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" id="{64791ef1-4b51-3dac-9636-60f17d0a00f3}">
          <p14:sldIdLst>
            <p14:sldId id="256"/>
          </p14:sldIdLst>
        </p14:section>
        <p14:section name="Contexte" id="{262abd5a-9ee6-0fbf-3955-fc3867546343}">
          <p14:sldIdLst>
            <p14:sldId id="257"/>
            <p14:sldId id="258"/>
          </p14:sldIdLst>
        </p14:section>
        <p14:section name="Architecture" id="{b333408c-734b-2f83-3538-afc3137fbe86}">
          <p14:sldIdLst>
            <p14:sldId id="259"/>
          </p14:sldIdLst>
        </p14:section>
        <p14:section name="Demande" id="{617f4f1b-8b40-55b8-ac79-2f6c1b6c0644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81600" cy="6819900"/>
          </a:xfrm>
          <a:prstGeom prst="rect">
            <a:avLst/>
          </a:prstGeom>
          <a:solidFill>
            <a:srgbClr val="00324A"/>
          </a:solidFill>
          <a:ln w="12700">
            <a:solidFill>
              <a:srgbClr val="00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9900"/>
            <a:ext cx="2438400" cy="38100"/>
          </a:xfrm>
          <a:prstGeom prst="rect">
            <a:avLst/>
          </a:prstGeom>
          <a:solidFill>
            <a:srgbClr val="00A1E4"/>
          </a:solidFill>
          <a:ln w="12700">
            <a:solidFill>
              <a:srgbClr val="00A1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38400" y="6819900"/>
            <a:ext cx="2438400" cy="38100"/>
          </a:xfrm>
          <a:prstGeom prst="rect">
            <a:avLst/>
          </a:prstGeom>
          <a:solidFill>
            <a:srgbClr val="E63132"/>
          </a:solidFill>
          <a:ln w="12700">
            <a:solidFill>
              <a:srgbClr val="E631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0" y="6819900"/>
            <a:ext cx="2438400" cy="381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6819900"/>
            <a:ext cx="2438400" cy="38100"/>
          </a:xfrm>
          <a:prstGeom prst="rect">
            <a:avLst/>
          </a:prstGeom>
          <a:solidFill>
            <a:srgbClr val="8FBF2F"/>
          </a:solidFill>
          <a:ln w="12700">
            <a:solidFill>
              <a:srgbClr val="8FBF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53600" y="6819900"/>
            <a:ext cx="2438400" cy="38100"/>
          </a:xfrm>
          <a:prstGeom prst="rect">
            <a:avLst/>
          </a:prstGeom>
          <a:solidFill>
            <a:srgbClr val="732F85"/>
          </a:solidFill>
          <a:ln w="12700">
            <a:solidFill>
              <a:srgbClr val="732F8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9900"/>
            <a:ext cx="2438400" cy="38100"/>
          </a:xfrm>
          <a:prstGeom prst="rect">
            <a:avLst/>
          </a:prstGeom>
          <a:solidFill>
            <a:srgbClr val="00A1E4"/>
          </a:solidFill>
          <a:ln w="12700">
            <a:solidFill>
              <a:srgbClr val="00A1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38400" y="6819900"/>
            <a:ext cx="2438400" cy="38100"/>
          </a:xfrm>
          <a:prstGeom prst="rect">
            <a:avLst/>
          </a:prstGeom>
          <a:solidFill>
            <a:srgbClr val="E63132"/>
          </a:solidFill>
          <a:ln w="12700">
            <a:solidFill>
              <a:srgbClr val="E631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76800" y="6819900"/>
            <a:ext cx="2438400" cy="38100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6819900"/>
            <a:ext cx="2438400" cy="38100"/>
          </a:xfrm>
          <a:prstGeom prst="rect">
            <a:avLst/>
          </a:prstGeom>
          <a:solidFill>
            <a:srgbClr val="8FBF2F"/>
          </a:solidFill>
          <a:ln w="12700">
            <a:solidFill>
              <a:srgbClr val="8FBF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3600" y="6819900"/>
            <a:ext cx="2438400" cy="38100"/>
          </a:xfrm>
          <a:prstGeom prst="rect">
            <a:avLst/>
          </a:prstGeom>
          <a:solidFill>
            <a:srgbClr val="732F85"/>
          </a:solidFill>
          <a:ln w="12700">
            <a:solidFill>
              <a:srgbClr val="732F85"/>
            </a:solidFill>
            <a:prstDash val="solid"/>
          </a:ln>
        </p:spPr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609600" y="457200"/>
            <a:ext cx="109728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spc="100" kern="0" dirty="0">
                <a:solidFill>
                  <a:srgbClr val="0C6792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609600" y="704850"/>
            <a:ext cx="109728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324A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09600"/>
            <a:ext cx="396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D8FE"/>
                </a:solidFill>
              </a:rPr>
              <a:t>DOSSIER D'ARCHITECTURE TECHNIQUE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990600"/>
            <a:ext cx="39624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FFFF"/>
                </a:solidFill>
              </a:rPr>
              <a:t>ePavillon : faire pointer son domaine vers le nouveau serveur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3143250"/>
            <a:ext cx="3962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6E8FF"/>
                </a:solidFill>
              </a:rPr>
              <a:t>Demande adressée à l'OIF, gestionnaire de la zone DNS francophonie.org</a:t>
            </a:r>
            <a:endParaRPr lang="en-US" sz="1350" dirty="0"/>
          </a:p>
        </p:txBody>
      </p:sp>
      <p:sp>
        <p:nvSpPr>
          <p:cNvPr id="5" name="Tuile logo"/>
          <p:cNvSpPr/>
          <p:nvPr/>
        </p:nvSpPr>
        <p:spPr>
          <a:xfrm>
            <a:off x="609600" y="4991100"/>
            <a:ext cx="1533525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Logo IFDD" descr="Institut de la Francophonie pour le développement durable (IFD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5143500"/>
            <a:ext cx="1190625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00400" y="6000750"/>
            <a:ext cx="1371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C6E8FF"/>
                </a:solidFill>
              </a:rPr>
              <a:t>Octobre 2026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91200" y="609600"/>
            <a:ext cx="5791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6792"/>
                </a:solidFill>
              </a:rPr>
              <a:t>LA DEMANDE EN UNE LIGNE</a:t>
            </a:r>
            <a:endParaRPr lang="en-US" sz="1050" dirty="0"/>
          </a:p>
        </p:txBody>
      </p:sp>
      <p:sp>
        <p:nvSpPr>
          <p:cNvPr id="9" name="Carte enregistrement"/>
          <p:cNvSpPr/>
          <p:nvPr/>
        </p:nvSpPr>
        <p:spPr>
          <a:xfrm>
            <a:off x="5791200" y="990600"/>
            <a:ext cx="5791200" cy="1428750"/>
          </a:xfrm>
          <a:prstGeom prst="roundRect">
            <a:avLst>
              <a:gd name="adj" fmla="val 5333"/>
            </a:avLst>
          </a:prstGeom>
          <a:solidFill>
            <a:srgbClr val="EEF8FF"/>
          </a:solidFill>
          <a:ln w="9525">
            <a:solidFill>
              <a:srgbClr val="0C679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57900" y="11811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54B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Enregistrement A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057900" y="1447800"/>
            <a:ext cx="533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epavillonclimatique.francophonie.org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57900" y="1905000"/>
            <a:ext cx="190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strike="sngStrike" dirty="0">
                <a:solidFill>
                  <a:srgbClr val="55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68.168.118.201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58150" y="2057400"/>
            <a:ext cx="323850" cy="0"/>
          </a:xfrm>
          <a:prstGeom prst="line">
            <a:avLst/>
          </a:prstGeom>
          <a:noFill/>
          <a:ln w="19050">
            <a:solidFill>
              <a:srgbClr val="0C679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8534400" y="1905000"/>
            <a:ext cx="247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C67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173.209.36.111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5791200" y="27051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24A"/>
                </a:solidFill>
              </a:rPr>
              <a:t>Pourquoi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620000" y="2705100"/>
            <a:ext cx="396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B1C"/>
                </a:solidFill>
              </a:rPr>
              <a:t>L'hébergement mutualisé actuel ne peut pas faire tourner la nouvelle plateforme : rendu serveur, API, base de données, temps réel.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791200" y="356235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24A"/>
                </a:solidFill>
              </a:rPr>
              <a:t>Serveur connu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620000" y="356235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B1C"/>
                </a:solidFill>
              </a:rPr>
              <a:t>Il porte déjà financedurable.francophonie.org, dont l'enregistrement A pointe vers la même adresse.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791200" y="41910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24A"/>
                </a:solidFill>
              </a:rPr>
              <a:t>Inchangé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20000" y="4191000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B1C"/>
                </a:solidFill>
              </a:rPr>
              <a:t>Le nom de domaine, les adresses des pages, le courriel du sous-domaine.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91200" y="4914900"/>
            <a:ext cx="5791200" cy="0"/>
          </a:xfrm>
          <a:prstGeom prst="line">
            <a:avLst/>
          </a:prstGeom>
          <a:noFill/>
          <a:ln w="9525">
            <a:solidFill>
              <a:srgbClr val="D9DD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91200" y="5067300"/>
            <a:ext cx="579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C6792"/>
                </a:solidFill>
              </a:rPr>
              <a:t>2 </a:t>
            </a:r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Trois générations      </a:t>
            </a:r>
            <a:pPr indent="0" marL="0">
              <a:buNone/>
            </a:pPr>
            <a:r>
              <a:rPr lang="en-US" sz="1050" b="1" dirty="0">
                <a:solidFill>
                  <a:srgbClr val="0C6792"/>
                </a:solidFill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Le blocage      </a:t>
            </a:r>
            <a:pPr indent="0" marL="0">
              <a:buNone/>
            </a:pPr>
            <a:r>
              <a:rPr lang="en-US" sz="1050" b="1" dirty="0">
                <a:solidFill>
                  <a:srgbClr val="0C6792"/>
                </a:solidFill>
              </a:rPr>
              <a:t>4 </a:t>
            </a:r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Architecture cible      </a:t>
            </a:r>
            <a:pPr indent="0" marL="0">
              <a:buNone/>
            </a:pPr>
            <a:r>
              <a:rPr lang="en-US" sz="1050" b="1" dirty="0">
                <a:solidFill>
                  <a:srgbClr val="0C6792"/>
                </a:solidFill>
              </a:rPr>
              <a:t>5 </a:t>
            </a:r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Notre demande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0" y="64389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1 / 5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609600" y="45720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6792"/>
                </a:solidFill>
              </a:rPr>
              <a:t>CONTEXTE</a:t>
            </a:r>
            <a:endParaRPr lang="en-US" sz="105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609600" y="70485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24A"/>
                </a:solidFill>
              </a:rPr>
              <a:t>Trois générations : chacune a levé la limite de la précédente</a:t>
            </a:r>
            <a:endParaRPr lang="en-US" sz="2400" dirty="0"/>
          </a:p>
        </p:txBody>
      </p:sp>
      <p:sp>
        <p:nvSpPr>
          <p:cNvPr id="4" name="Génération"/>
          <p:cNvSpPr txBox="1"/>
          <p:nvPr/>
        </p:nvSpPr>
        <p:spPr>
          <a:xfrm>
            <a:off x="609600" y="1524000"/>
            <a:ext cx="3200400" cy="33909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209550" tIns="209550" rIns="209550" bIns="209550" rtlCol="0" anchor="t"/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55534F"/>
                </a:solidFill>
              </a:rPr>
              <a:t>GÉNÉRATION 1 · 2021 À 2024</a:t>
            </a:r>
            <a:endParaRPr lang="en-US" sz="105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650" b="1" dirty="0">
                <a:solidFill>
                  <a:srgbClr val="00324A"/>
                </a:solidFill>
              </a:rPr>
              <a:t>Laravel + Vue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Inertia, Jetstream · serveur PHP</a:t>
            </a:r>
            <a:endParaRPr lang="en-US" sz="1050" dirty="0"/>
          </a:p>
          <a:p>
            <a:pPr algn="l" indent="0" marL="0">
              <a:spcBef>
                <a:spcPts val="1400"/>
              </a:spcBef>
              <a:buNone/>
            </a:pPr>
            <a:r>
              <a:rPr lang="en-US" sz="975" b="1" spc="50" kern="0" dirty="0">
                <a:solidFill>
                  <a:srgbClr val="A10C16"/>
                </a:solidFill>
              </a:rPr>
              <a:t>LIMITE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Pannes et fortes lenteurs à chaque pic de fréquentation des COP. Intégration de nouveaux services suspendue.</a:t>
            </a:r>
            <a:endParaRPr lang="en-US" sz="1050" dirty="0"/>
          </a:p>
        </p:txBody>
      </p:sp>
      <p:sp>
        <p:nvSpPr>
          <p:cNvPr id="5" name="Génération"/>
          <p:cNvSpPr txBox="1"/>
          <p:nvPr/>
        </p:nvSpPr>
        <p:spPr>
          <a:xfrm>
            <a:off x="4495800" y="1524000"/>
            <a:ext cx="3200400" cy="33909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209550" tIns="209550" rIns="209550" bIns="209550" rtlCol="0" anchor="t"/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55534F"/>
                </a:solidFill>
              </a:rPr>
              <a:t>GÉNÉRATION 2 · 2025 À 2026</a:t>
            </a:r>
            <a:endParaRPr lang="en-US" sz="105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650" b="1" dirty="0">
                <a:solidFill>
                  <a:srgbClr val="00324A"/>
                </a:solidFill>
              </a:rPr>
              <a:t>Vue.js + PostgreSQL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Single Page Application (SPA) · API générée depuis la base (PostgREST) et fonctions serverless</a:t>
            </a:r>
            <a:endParaRPr lang="en-US" sz="1050" dirty="0"/>
          </a:p>
          <a:p>
            <a:pPr algn="l" indent="0" marL="0">
              <a:spcBef>
                <a:spcPts val="1400"/>
              </a:spcBef>
              <a:buNone/>
            </a:pPr>
            <a:r>
              <a:rPr lang="en-US" sz="975" b="1" spc="50" kern="0" dirty="0">
                <a:solidFill>
                  <a:srgbClr val="557607"/>
                </a:solidFill>
              </a:rPr>
              <a:t>ACQUIS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Tient la charge.</a:t>
            </a:r>
            <a:endParaRPr lang="en-US" sz="1050" dirty="0"/>
          </a:p>
          <a:p>
            <a:pPr algn="l" indent="0" marL="0">
              <a:spcBef>
                <a:spcPts val="1000"/>
              </a:spcBef>
              <a:buNone/>
            </a:pPr>
            <a:r>
              <a:rPr lang="en-US" sz="975" b="1" spc="50" kern="0" dirty="0">
                <a:solidFill>
                  <a:srgbClr val="A10C16"/>
                </a:solidFill>
              </a:rPr>
              <a:t>LIMITE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Pages construites dans le navigateur, presque vides pour les moteurs de recherche et les IA. Logique éparpillée en petites fonctions.</a:t>
            </a:r>
            <a:endParaRPr lang="en-US" sz="1050" dirty="0"/>
          </a:p>
        </p:txBody>
      </p:sp>
      <p:sp>
        <p:nvSpPr>
          <p:cNvPr id="6" name="Génération"/>
          <p:cNvSpPr txBox="1"/>
          <p:nvPr/>
        </p:nvSpPr>
        <p:spPr>
          <a:xfrm>
            <a:off x="8382000" y="1524000"/>
            <a:ext cx="3200400" cy="3390900"/>
          </a:xfrm>
          <a:prstGeom prst="roundRect">
            <a:avLst>
              <a:gd name="adj" fmla="val 2381"/>
            </a:avLst>
          </a:prstGeom>
          <a:solidFill>
            <a:srgbClr val="EEF8FF"/>
          </a:solidFill>
          <a:ln w="19050">
            <a:solidFill>
              <a:srgbClr val="0C6792"/>
            </a:solidFill>
            <a:prstDash val="solid"/>
          </a:ln>
        </p:spPr>
        <p:txBody>
          <a:bodyPr wrap="square" lIns="209550" tIns="209550" rIns="209550" bIns="209550" rtlCol="0" anchor="t"/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0C6792"/>
                </a:solidFill>
              </a:rPr>
              <a:t>GÉNÉRATION 3 · 2026, ACTUELLE</a:t>
            </a:r>
            <a:endParaRPr lang="en-US" sz="105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650" b="1" dirty="0">
                <a:solidFill>
                  <a:srgbClr val="00324A"/>
                </a:solidFill>
              </a:rPr>
              <a:t>Nuxt + Rust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Actix Web · PostgreSQL 17 · rendu serveur</a:t>
            </a:r>
            <a:endParaRPr lang="en-US" sz="1050" dirty="0"/>
          </a:p>
          <a:p>
            <a:pPr algn="l" indent="0" marL="0">
              <a:spcBef>
                <a:spcPts val="1400"/>
              </a:spcBef>
              <a:buNone/>
            </a:pPr>
            <a:r>
              <a:rPr lang="en-US" sz="975" b="1" spc="50" kern="0" dirty="0">
                <a:solidFill>
                  <a:srgbClr val="557607"/>
                </a:solidFill>
              </a:rPr>
              <a:t>ACQUIS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Pages complètes dès la première réponse. Une seule API, vérifiée par des tests automatiques.</a:t>
            </a:r>
            <a:endParaRPr lang="en-US" sz="1050" dirty="0"/>
          </a:p>
          <a:p>
            <a:pPr algn="l" indent="0" marL="0">
              <a:spcBef>
                <a:spcPts val="1000"/>
              </a:spcBef>
              <a:buNone/>
            </a:pPr>
            <a:r>
              <a:rPr lang="en-US" sz="975" b="1" spc="50" kern="0" dirty="0">
                <a:solidFill>
                  <a:srgbClr val="0C6792"/>
                </a:solidFill>
              </a:rPr>
              <a:t>POURQUOI RUST ET ACTIX WEB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Langage compilé : forte charge et très nombreuses connexions en direct pour très peu de ressources. Grande stabilité pendant les pics des COP.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10000" y="3219450"/>
            <a:ext cx="6762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96200" y="3219450"/>
            <a:ext cx="6762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9" name="Besoins COP"/>
          <p:cNvSpPr/>
          <p:nvPr/>
        </p:nvSpPr>
        <p:spPr>
          <a:xfrm>
            <a:off x="609600" y="5029200"/>
            <a:ext cx="10972800" cy="13335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" y="5181600"/>
            <a:ext cx="1047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00324A"/>
                </a:solidFill>
              </a:rPr>
              <a:t>Ce que la plateforme doit tenir à chaque COP</a:t>
            </a:r>
            <a:endParaRPr lang="en-US" sz="1125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5448300"/>
            <a:ext cx="2457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6792"/>
                </a:solidFill>
              </a:rPr>
              <a:t>Visibilité.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B1C"/>
                </a:solidFill>
              </a:rPr>
              <a:t>Les activités du Pavillon trouvées par les moteurs de recherche et les IA.</a:t>
            </a:r>
            <a:endParaRPr lang="en-US" sz="105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0324A"/>
                </a:solidFill>
              </a:rPr>
              <a:t>→ Nuxt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524250" y="5448300"/>
            <a:ext cx="2457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6792"/>
                </a:solidFill>
              </a:rPr>
              <a:t>Échange.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B1C"/>
                </a:solidFill>
              </a:rPr>
              <a:t>Questions-réponses en direct entre panélistes et participants, modérées et désactivables.</a:t>
            </a:r>
            <a:endParaRPr lang="en-US" sz="105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0324A"/>
                </a:solidFill>
              </a:rPr>
              <a:t>→ Actix Web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210300" y="5448300"/>
            <a:ext cx="2457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6792"/>
                </a:solidFill>
              </a:rPr>
              <a:t>Archives.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B1C"/>
                </a:solidFill>
              </a:rPr>
              <a:t>Les enregistrements depuis 2023 : la chaîne YouTube a été piratée et perdue, les copies sur disque restent.</a:t>
            </a:r>
            <a:endParaRPr lang="en-US" sz="105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0324A"/>
                </a:solidFill>
              </a:rPr>
              <a:t>→ Garage (API S3)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896350" y="5448300"/>
            <a:ext cx="24574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C6792"/>
                </a:solidFill>
              </a:rPr>
              <a:t>Traduction.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B1C"/>
                </a:solidFill>
              </a:rPr>
              <a:t>Transcription Zoom en direct, traduite dans la langue de chaque participant.</a:t>
            </a:r>
            <a:endParaRPr lang="en-US" sz="1050" dirty="0"/>
          </a:p>
          <a:p>
            <a:pPr indent="0" marL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0324A"/>
                </a:solidFill>
              </a:rPr>
              <a:t>→ OpenRouter (LLM au choix)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64389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ePavillon · demande de modification DNS</a:t>
            </a:r>
            <a:endParaRPr lang="en-US" sz="975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389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2 / 5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609600" y="45720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6792"/>
                </a:solidFill>
              </a:rPr>
              <a:t>LE BLOCAGE</a:t>
            </a:r>
            <a:endParaRPr lang="en-US" sz="105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609600" y="70485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24A"/>
                </a:solidFill>
              </a:rPr>
              <a:t>L'hébergement mutualisé, pas Apache, empêche la nouvelle pile</a:t>
            </a:r>
            <a:endParaRPr lang="en-US" sz="2400" dirty="0"/>
          </a:p>
        </p:txBody>
      </p:sp>
      <p:sp>
        <p:nvSpPr>
          <p:cNvPr id="4" name="Serveur actuel"/>
          <p:cNvSpPr/>
          <p:nvPr/>
        </p:nvSpPr>
        <p:spPr>
          <a:xfrm>
            <a:off x="609600" y="1447800"/>
            <a:ext cx="5029200" cy="2247900"/>
          </a:xfrm>
          <a:prstGeom prst="roundRect">
            <a:avLst>
              <a:gd name="adj" fmla="val 3390"/>
            </a:avLst>
          </a:prstGeom>
          <a:solidFill>
            <a:srgbClr val="F4F6F8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1619250"/>
            <a:ext cx="464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00324A"/>
                </a:solidFill>
              </a:rPr>
              <a:t>Serveur actuel · </a:t>
            </a:r>
            <a:pPr indent="0" marL="0">
              <a:buNone/>
            </a:pPr>
            <a:r>
              <a:rPr lang="en-US" sz="1125" b="1" dirty="0">
                <a:solidFill>
                  <a:srgbClr val="00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68.168.118.201</a:t>
            </a:r>
            <a:endParaRPr lang="en-US" sz="1125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1847850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Hébergement mutualisé sous cPanel</a:t>
            </a:r>
            <a:endParaRPr lang="en-US" sz="1050" dirty="0"/>
          </a:p>
        </p:txBody>
      </p:sp>
      <p:sp>
        <p:nvSpPr>
          <p:cNvPr id="7" name="Conteneur"/>
          <p:cNvSpPr/>
          <p:nvPr/>
        </p:nvSpPr>
        <p:spPr>
          <a:xfrm>
            <a:off x="800100" y="2152650"/>
            <a:ext cx="4648200" cy="135255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8A8F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52500" y="2286000"/>
            <a:ext cx="434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Conteneur Virtuozzo</a:t>
            </a:r>
            <a:pPr indent="0" marL="0">
              <a:buNone/>
            </a:pPr>
            <a:r>
              <a:rPr lang="en-US" sz="1050" dirty="0">
                <a:solidFill>
                  <a:srgbClr val="55534F"/>
                </a:solidFill>
              </a:rPr>
              <a:t> · aucun accès administrateur</a:t>
            </a:r>
            <a:endParaRPr lang="en-US" sz="1050" dirty="0"/>
          </a:p>
        </p:txBody>
      </p:sp>
      <p:sp>
        <p:nvSpPr>
          <p:cNvPr id="9" name="Possible"/>
          <p:cNvSpPr txBox="1"/>
          <p:nvPr/>
        </p:nvSpPr>
        <p:spPr>
          <a:xfrm>
            <a:off x="952500" y="2552700"/>
            <a:ext cx="2114550" cy="800100"/>
          </a:xfrm>
          <a:prstGeom prst="roundRect">
            <a:avLst>
              <a:gd name="adj" fmla="val 9524"/>
            </a:avLst>
          </a:prstGeom>
          <a:solidFill>
            <a:srgbClr val="ECFFD3"/>
          </a:solidFill>
          <a:ln w="9525">
            <a:solidFill>
              <a:srgbClr val="B3D979"/>
            </a:solidFill>
            <a:prstDash val="solid"/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C5404"/>
                </a:solidFill>
              </a:rPr>
              <a:t>Possible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Apache + PHP : pages et fichiers statiques</a:t>
            </a:r>
            <a:endParaRPr lang="en-US" sz="1050" dirty="0"/>
          </a:p>
        </p:txBody>
      </p:sp>
      <p:sp>
        <p:nvSpPr>
          <p:cNvPr id="10" name="Impossible"/>
          <p:cNvSpPr txBox="1"/>
          <p:nvPr/>
        </p:nvSpPr>
        <p:spPr>
          <a:xfrm>
            <a:off x="3181350" y="2552700"/>
            <a:ext cx="2114550" cy="800100"/>
          </a:xfrm>
          <a:prstGeom prst="roundRect">
            <a:avLst>
              <a:gd name="adj" fmla="val 9524"/>
            </a:avLst>
          </a:prstGeom>
          <a:solidFill>
            <a:srgbClr val="FFF4F2"/>
          </a:solidFill>
          <a:ln w="9525">
            <a:solidFill>
              <a:srgbClr val="FEAFA6"/>
            </a:solidFill>
            <a:prstDash val="solid"/>
          </a:ln>
        </p:spPr>
        <p:txBody>
          <a:bodyPr wrap="square" lIns="114300" tIns="114300" rIns="114300" bIns="1143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10C16"/>
                </a:solidFill>
              </a:rPr>
              <a:t>Impossible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Docker, Node.js, tout programme qui tourne en continu</a:t>
            </a:r>
            <a:endParaRPr lang="en-US" sz="1050" dirty="0"/>
          </a:p>
        </p:txBody>
      </p:sp>
      <p:sp>
        <p:nvSpPr>
          <p:cNvPr id="11" name="Précision"/>
          <p:cNvSpPr txBox="1"/>
          <p:nvPr/>
        </p:nvSpPr>
        <p:spPr>
          <a:xfrm>
            <a:off x="609600" y="3886200"/>
            <a:ext cx="5029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133350" tIns="171450" rIns="171450" bIns="133350" rtlCol="0" anchor="t"/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0C6792"/>
                </a:solidFill>
              </a:rPr>
              <a:t>PRÉCISION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1D1B1C"/>
                </a:solidFill>
              </a:rPr>
              <a:t>Apache n'est pas en cause : le nouveau serveur l'emploie aussi, en frontal. Ce qui bloque, c'est l'absence d'accès administrateur, qui interdit Docker et tout service permanent.</a:t>
            </a:r>
            <a:endParaRPr lang="en-US" sz="1050" dirty="0"/>
          </a:p>
        </p:txBody>
      </p:sp>
      <p:sp>
        <p:nvSpPr>
          <p:cNvPr id="12" name="Contournement"/>
          <p:cNvSpPr txBox="1"/>
          <p:nvPr/>
        </p:nvSpPr>
        <p:spPr>
          <a:xfrm>
            <a:off x="609600" y="5105400"/>
            <a:ext cx="5029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133350" tIns="171450" rIns="171450" bIns="133350" rtlCol="0" anchor="t"/>
          <a:lstStyle/>
          <a:p>
            <a:pPr algn="l" indent="0" marL="0">
              <a:buNone/>
            </a:pPr>
            <a:r>
              <a:rPr lang="en-US" sz="975" b="1" spc="50" kern="0" dirty="0">
                <a:solidFill>
                  <a:srgbClr val="0C6792"/>
                </a:solidFill>
              </a:rPr>
              <a:t>CONTOURNEMENT ESSAYÉ, ÉCARTÉ</a:t>
            </a:r>
            <a:endParaRPr lang="en-US" sz="105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1D1B1C"/>
                </a:solidFill>
              </a:rPr>
              <a:t>Relayer le trafic depuis le serveur actuel : le relais chiffré exige un réglage interdit en mutualisé (erreur 500). En clair, les sessions des utilisateurs traverseraient Internet sans protection.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144780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914400"/>
                <a:gridCol w="91440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0324A"/>
                          </a:solidFill>
                        </a:rPr>
                        <a:t>BESOIN DE LA PLATEFORME</a:t>
                      </a:r>
                      <a:endParaRPr lang="en-US" sz="975" dirty="0"/>
                    </a:p>
                  </a:txBody>
                  <a:tcPr marL="0" marR="76200" marT="57150" marB="5715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00324A"/>
                          </a:solidFill>
                        </a:rPr>
                        <a:t>ACTUEL</a:t>
                      </a:r>
                      <a:endParaRPr lang="en-US" sz="975" dirty="0"/>
                    </a:p>
                  </a:txBody>
                  <a:tcPr marL="0" marR="76200" marT="57150" marB="5715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00324A"/>
                          </a:solidFill>
                        </a:rPr>
                        <a:t>NOUVEAU</a:t>
                      </a:r>
                      <a:endParaRPr lang="en-US" sz="975" dirty="0"/>
                    </a:p>
                  </a:txBody>
                  <a:tcPr marL="0" marR="76200" marT="57150" marB="5715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Rendu serveur des pages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Nuxt sur Node.js : le référencement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API permanente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Rust, Actix Web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PostgreSQL 17 + pgvector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données et recherche par le sens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Connexions temps réel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questions-réponses, sous-titres traduits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Conteneurs Docker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déployer et revenir en arrière en une commande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Stockage vidéo compatible S3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Garage, pour les enregistrements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1B1C"/>
                          </a:solidFill>
                        </a:rPr>
                        <a:t>Accès administrateur</a:t>
                      </a:r>
                      <a:endParaRPr lang="en-US" sz="105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5534F"/>
                          </a:solidFill>
                        </a:rPr>
                        <a:t>pare-feu, certificats, supervision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10C16"/>
                          </a:solidFill>
                        </a:rPr>
                        <a:t>Non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C5404"/>
                          </a:solidFill>
                        </a:rPr>
                        <a:t>Oui</a:t>
                      </a:r>
                      <a:endParaRPr lang="en-US" sz="1050" dirty="0"/>
                    </a:p>
                  </a:txBody>
                  <a:tcPr marL="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10972800" y="64389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3 / 5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609600" y="45720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6792"/>
                </a:solidFill>
              </a:rPr>
              <a:t>ARCHITECTURE CIBLE</a:t>
            </a:r>
            <a:endParaRPr lang="en-US" sz="105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609600" y="70485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24A"/>
                </a:solidFill>
              </a:rPr>
              <a:t>Un serveur dédié porte toute la pile, derrière la même adresse</a:t>
            </a:r>
            <a:endParaRPr lang="en-US" sz="2400" dirty="0"/>
          </a:p>
        </p:txBody>
      </p:sp>
      <p:sp>
        <p:nvSpPr>
          <p:cNvPr id="4" name="Serveur applicatif"/>
          <p:cNvSpPr/>
          <p:nvPr/>
        </p:nvSpPr>
        <p:spPr>
          <a:xfrm>
            <a:off x="3200400" y="1371600"/>
            <a:ext cx="8382000" cy="4876800"/>
          </a:xfrm>
          <a:prstGeom prst="roundRect">
            <a:avLst>
              <a:gd name="adj" fmla="val 1953"/>
            </a:avLst>
          </a:prstGeom>
          <a:solidFill>
            <a:srgbClr val="F4F6F8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5" name="Pile Docker"/>
          <p:cNvSpPr/>
          <p:nvPr/>
        </p:nvSpPr>
        <p:spPr>
          <a:xfrm>
            <a:off x="5715000" y="1905000"/>
            <a:ext cx="5715000" cy="41910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8A8F9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590800" y="3105150"/>
            <a:ext cx="381000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90800" y="3905250"/>
            <a:ext cx="381000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90800" y="4705350"/>
            <a:ext cx="381000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105150"/>
            <a:ext cx="0" cy="160020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3905250"/>
            <a:ext cx="5238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57800" y="3905250"/>
            <a:ext cx="381000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38800" y="2571750"/>
            <a:ext cx="0" cy="205740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38800" y="2571750"/>
            <a:ext cx="371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8800" y="3600450"/>
            <a:ext cx="371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38800" y="4629150"/>
            <a:ext cx="371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24700" y="2857500"/>
            <a:ext cx="0" cy="447675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0" y="3695700"/>
            <a:ext cx="752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3505200"/>
            <a:ext cx="381000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10600" y="2571750"/>
            <a:ext cx="0" cy="93345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10600" y="2571750"/>
            <a:ext cx="371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0" y="4629150"/>
            <a:ext cx="752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590800" y="5562600"/>
            <a:ext cx="3419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2600325" y="5753100"/>
            <a:ext cx="3419475" cy="0"/>
          </a:xfrm>
          <a:prstGeom prst="line">
            <a:avLst/>
          </a:prstGeom>
          <a:noFill/>
          <a:ln w="19050">
            <a:solidFill>
              <a:srgbClr val="5553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600200" y="2371725"/>
            <a:ext cx="0" cy="447675"/>
          </a:xfrm>
          <a:prstGeom prst="line">
            <a:avLst/>
          </a:prstGeom>
          <a:noFill/>
          <a:ln w="19050">
            <a:solidFill>
              <a:srgbClr val="0C6792"/>
            </a:solidFill>
            <a:prstDash val="dash"/>
            <a:tailEnd type="triangle"/>
          </a:ln>
        </p:spPr>
      </p:sp>
      <p:sp>
        <p:nvSpPr>
          <p:cNvPr id="25" name="DNS OIF"/>
          <p:cNvSpPr txBox="1"/>
          <p:nvPr/>
        </p:nvSpPr>
        <p:spPr>
          <a:xfrm>
            <a:off x="609600" y="1524000"/>
            <a:ext cx="1981200" cy="838200"/>
          </a:xfrm>
          <a:prstGeom prst="roundRect">
            <a:avLst>
              <a:gd name="adj" fmla="val 9091"/>
            </a:avLst>
          </a:prstGeom>
          <a:solidFill>
            <a:srgbClr val="EEF8FF"/>
          </a:solidFill>
          <a:ln w="19050">
            <a:solidFill>
              <a:srgbClr val="0C679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24A"/>
                </a:solidFill>
              </a:rPr>
              <a:t>DNS de l'OIF</a:t>
            </a:r>
            <a:endParaRPr lang="en-US" sz="1050" dirty="0"/>
          </a:p>
          <a:p>
            <a:pPr algn="ctr" indent="0" marL="0">
              <a:buNone/>
            </a:pPr>
            <a:r>
              <a:rPr lang="en-US" sz="975" b="1" dirty="0">
                <a:solidFill>
                  <a:srgbClr val="0C67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173.209.36.111</a:t>
            </a:r>
            <a:endParaRPr lang="en-US" sz="1050" dirty="0"/>
          </a:p>
          <a:p>
            <a:pPr algn="ctr" indent="0" marL="0">
              <a:buNone/>
            </a:pPr>
            <a:r>
              <a:rPr lang="en-US" sz="975" dirty="0">
                <a:solidFill>
                  <a:srgbClr val="054B6D"/>
                </a:solidFill>
              </a:rPr>
              <a:t>enregistrement à modifier</a:t>
            </a:r>
            <a:endParaRPr lang="en-US" sz="1050" dirty="0"/>
          </a:p>
        </p:txBody>
      </p:sp>
      <p:sp>
        <p:nvSpPr>
          <p:cNvPr id="26" name="Public"/>
          <p:cNvSpPr txBox="1"/>
          <p:nvPr/>
        </p:nvSpPr>
        <p:spPr>
          <a:xfrm>
            <a:off x="609600" y="2819400"/>
            <a:ext cx="19812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Public, participants, panélistes</a:t>
            </a:r>
            <a:endParaRPr lang="en-US" sz="1050" dirty="0"/>
          </a:p>
        </p:txBody>
      </p:sp>
      <p:sp>
        <p:nvSpPr>
          <p:cNvPr id="27" name="Moteurs"/>
          <p:cNvSpPr txBox="1"/>
          <p:nvPr/>
        </p:nvSpPr>
        <p:spPr>
          <a:xfrm>
            <a:off x="609600" y="3619500"/>
            <a:ext cx="19812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Moteurs de recherche et IA</a:t>
            </a:r>
            <a:endParaRPr lang="en-US" sz="1050" dirty="0"/>
          </a:p>
        </p:txBody>
      </p:sp>
      <p:sp>
        <p:nvSpPr>
          <p:cNvPr id="28" name="Guide Négo"/>
          <p:cNvSpPr txBox="1"/>
          <p:nvPr/>
        </p:nvSpPr>
        <p:spPr>
          <a:xfrm>
            <a:off x="609600" y="4419600"/>
            <a:ext cx="19812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Guide Négo, application mobile</a:t>
            </a:r>
            <a:endParaRPr lang="en-US" sz="1050" dirty="0"/>
          </a:p>
        </p:txBody>
      </p:sp>
      <p:sp>
        <p:nvSpPr>
          <p:cNvPr id="29" name="Services externes"/>
          <p:cNvSpPr txBox="1"/>
          <p:nvPr/>
        </p:nvSpPr>
        <p:spPr>
          <a:xfrm>
            <a:off x="609600" y="5334000"/>
            <a:ext cx="1981200" cy="800100"/>
          </a:xfrm>
          <a:prstGeom prst="roundRect">
            <a:avLst>
              <a:gd name="adj" fmla="val 9524"/>
            </a:avLst>
          </a:prstGeom>
          <a:solidFill>
            <a:srgbClr val="FCF3FF"/>
          </a:solidFill>
          <a:ln w="9525">
            <a:solidFill>
              <a:srgbClr val="C699D3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Zoom</a:t>
            </a:r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 : transcription en direct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IA</a:t>
            </a:r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 : traduction (OpenRouter)</a:t>
            </a:r>
            <a:endParaRPr lang="en-US" sz="1050" dirty="0"/>
          </a:p>
        </p:txBody>
      </p:sp>
      <p:sp>
        <p:nvSpPr>
          <p:cNvPr id="30" name="Apache"/>
          <p:cNvSpPr txBox="1"/>
          <p:nvPr/>
        </p:nvSpPr>
        <p:spPr>
          <a:xfrm>
            <a:off x="3505200" y="3333750"/>
            <a:ext cx="1752600" cy="1143000"/>
          </a:xfrm>
          <a:prstGeom prst="roundRect">
            <a:avLst>
              <a:gd name="adj" fmla="val 6667"/>
            </a:avLst>
          </a:prstGeom>
          <a:solidFill>
            <a:srgbClr val="00324A"/>
          </a:solidFill>
          <a:ln w="9525">
            <a:solidFill>
              <a:srgbClr val="00324A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Apache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HTTPS, certificat Let's Encrypt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6E8FF"/>
                </a:solidFill>
              </a:rPr>
              <a:t>aiguille vers les conteneurs</a:t>
            </a:r>
            <a:endParaRPr lang="en-US" sz="1050" dirty="0"/>
          </a:p>
        </p:txBody>
      </p:sp>
      <p:sp>
        <p:nvSpPr>
          <p:cNvPr id="31" name="Site · Nuxt"/>
          <p:cNvSpPr txBox="1"/>
          <p:nvPr/>
        </p:nvSpPr>
        <p:spPr>
          <a:xfrm>
            <a:off x="6019800" y="22860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C679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Site · Nuxt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pages rendues côté serveur</a:t>
            </a:r>
            <a:endParaRPr lang="en-US" sz="1050" dirty="0"/>
          </a:p>
        </p:txBody>
      </p:sp>
      <p:sp>
        <p:nvSpPr>
          <p:cNvPr id="32" name="API · Rust, Actix Web"/>
          <p:cNvSpPr txBox="1"/>
          <p:nvPr/>
        </p:nvSpPr>
        <p:spPr>
          <a:xfrm>
            <a:off x="6019800" y="33147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C679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API · Rust, Actix Web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règles métier et droits</a:t>
            </a:r>
            <a:endParaRPr lang="en-US" sz="1050" dirty="0"/>
          </a:p>
        </p:txBody>
      </p:sp>
      <p:sp>
        <p:nvSpPr>
          <p:cNvPr id="33" name="Relais médias"/>
          <p:cNvSpPr txBox="1"/>
          <p:nvPr/>
        </p:nvSpPr>
        <p:spPr>
          <a:xfrm>
            <a:off x="6019800" y="43434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C679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Relais médias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vidéos et images</a:t>
            </a:r>
            <a:endParaRPr lang="en-US" sz="1050" dirty="0"/>
          </a:p>
        </p:txBody>
      </p:sp>
      <p:sp>
        <p:nvSpPr>
          <p:cNvPr id="34" name="Worker"/>
          <p:cNvSpPr txBox="1"/>
          <p:nvPr/>
        </p:nvSpPr>
        <p:spPr>
          <a:xfrm>
            <a:off x="6019800" y="53721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0C6792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Worker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transcription, traduction</a:t>
            </a:r>
            <a:endParaRPr lang="en-US" sz="1050" dirty="0"/>
          </a:p>
        </p:txBody>
      </p:sp>
      <p:sp>
        <p:nvSpPr>
          <p:cNvPr id="35" name="PostgreSQL 17"/>
          <p:cNvSpPr txBox="1"/>
          <p:nvPr/>
        </p:nvSpPr>
        <p:spPr>
          <a:xfrm>
            <a:off x="8991600" y="22860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ECFFD3"/>
          </a:solidFill>
          <a:ln w="9525">
            <a:solidFill>
              <a:srgbClr val="709B07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PostgreSQL 17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+ pgvector</a:t>
            </a:r>
            <a:endParaRPr lang="en-US" sz="1050" dirty="0"/>
          </a:p>
        </p:txBody>
      </p:sp>
      <p:sp>
        <p:nvSpPr>
          <p:cNvPr id="36" name="Valkey"/>
          <p:cNvSpPr txBox="1"/>
          <p:nvPr/>
        </p:nvSpPr>
        <p:spPr>
          <a:xfrm>
            <a:off x="8991600" y="33147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ECFFD3"/>
          </a:solidFill>
          <a:ln w="9525">
            <a:solidFill>
              <a:srgbClr val="709B07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Valkey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cache, files de travaux</a:t>
            </a:r>
            <a:endParaRPr lang="en-US" sz="1050" dirty="0"/>
          </a:p>
        </p:txBody>
      </p:sp>
      <p:sp>
        <p:nvSpPr>
          <p:cNvPr id="37" name="Garage · stockage S3"/>
          <p:cNvSpPr txBox="1"/>
          <p:nvPr/>
        </p:nvSpPr>
        <p:spPr>
          <a:xfrm>
            <a:off x="8991600" y="4343400"/>
            <a:ext cx="2209800" cy="571500"/>
          </a:xfrm>
          <a:prstGeom prst="roundRect">
            <a:avLst>
              <a:gd name="adj" fmla="val 13333"/>
            </a:avLst>
          </a:prstGeom>
          <a:solidFill>
            <a:srgbClr val="ECFFD3"/>
          </a:solidFill>
          <a:ln w="9525">
            <a:solidFill>
              <a:srgbClr val="709B07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1B1C"/>
                </a:solidFill>
              </a:rPr>
              <a:t>Garage · stockage 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1B1C"/>
                </a:solidFill>
              </a:rPr>
              <a:t>enregistrements depuis 2023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3352800" y="1485900"/>
            <a:ext cx="2209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24A"/>
                </a:solidFill>
              </a:rPr>
              <a:t>Serveur applicatif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1D1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173.209.36.111</a:t>
            </a:r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 · 8 cœurs, 16 Go</a:t>
            </a:r>
            <a:endParaRPr lang="en-US" sz="975" dirty="0"/>
          </a:p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héberge aussi financedurable.francophonie.org</a:t>
            </a:r>
            <a:endParaRPr lang="en-US" sz="975" dirty="0"/>
          </a:p>
        </p:txBody>
      </p:sp>
      <p:sp>
        <p:nvSpPr>
          <p:cNvPr id="39" name="Text 37"/>
          <p:cNvSpPr txBox="1"/>
          <p:nvPr/>
        </p:nvSpPr>
        <p:spPr>
          <a:xfrm>
            <a:off x="5867400" y="2000250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Pile Docker · ports ouverts en local seulement</a:t>
            </a:r>
            <a:endParaRPr lang="en-US" sz="975" dirty="0"/>
          </a:p>
        </p:txBody>
      </p:sp>
      <p:sp>
        <p:nvSpPr>
          <p:cNvPr id="40" name="Text 38"/>
          <p:cNvSpPr txBox="1"/>
          <p:nvPr/>
        </p:nvSpPr>
        <p:spPr>
          <a:xfrm>
            <a:off x="1714500" y="2514600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0C6792"/>
                </a:solidFill>
              </a:rPr>
              <a:t>résout le nom</a:t>
            </a:r>
            <a:endParaRPr lang="en-US" sz="975" dirty="0"/>
          </a:p>
        </p:txBody>
      </p:sp>
      <p:sp>
        <p:nvSpPr>
          <p:cNvPr id="41" name="Text 39"/>
          <p:cNvSpPr txBox="1"/>
          <p:nvPr/>
        </p:nvSpPr>
        <p:spPr>
          <a:xfrm>
            <a:off x="7239000" y="30099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appels internes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3810000" y="5334000"/>
            <a:ext cx="990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transcription</a:t>
            </a:r>
            <a:endParaRPr lang="en-US" sz="975" dirty="0"/>
          </a:p>
        </p:txBody>
      </p:sp>
      <p:sp>
        <p:nvSpPr>
          <p:cNvPr id="43" name="Text 41"/>
          <p:cNvSpPr txBox="1"/>
          <p:nvPr/>
        </p:nvSpPr>
        <p:spPr>
          <a:xfrm>
            <a:off x="3810000" y="5829300"/>
            <a:ext cx="990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texte traduit</a:t>
            </a:r>
            <a:endParaRPr lang="en-US" sz="975" dirty="0"/>
          </a:p>
        </p:txBody>
      </p:sp>
      <p:sp>
        <p:nvSpPr>
          <p:cNvPr id="44" name="Text 42"/>
          <p:cNvSpPr txBox="1"/>
          <p:nvPr/>
        </p:nvSpPr>
        <p:spPr>
          <a:xfrm>
            <a:off x="8991600" y="5067300"/>
            <a:ext cx="2209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Même protocole qu'Amazon S3 : si la bande passante l'exige, les vidéos passent sur S3 ou un CDN sans changer le code.</a:t>
            </a:r>
            <a:endParaRPr lang="en-US" sz="975" dirty="0"/>
          </a:p>
        </p:txBody>
      </p:sp>
      <p:sp>
        <p:nvSpPr>
          <p:cNvPr id="45" name="Text 43"/>
          <p:cNvSpPr txBox="1"/>
          <p:nvPr/>
        </p:nvSpPr>
        <p:spPr>
          <a:xfrm>
            <a:off x="609600" y="64389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Courriel sortant : inchangé, il part toujours du serveur actuel (page 5)</a:t>
            </a:r>
            <a:endParaRPr lang="en-US" sz="975" dirty="0"/>
          </a:p>
        </p:txBody>
      </p:sp>
      <p:sp>
        <p:nvSpPr>
          <p:cNvPr id="46" name="Text 44"/>
          <p:cNvSpPr txBox="1"/>
          <p:nvPr/>
        </p:nvSpPr>
        <p:spPr>
          <a:xfrm>
            <a:off x="10972800" y="64389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4 / 5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609600" y="45720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6792"/>
                </a:solidFill>
              </a:rPr>
              <a:t>NOTRE DEMANDE</a:t>
            </a:r>
            <a:endParaRPr lang="en-US" sz="105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609600" y="704850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24A"/>
                </a:solidFill>
              </a:rPr>
              <a:t>Faire pointer le domaine vers le nouveau serveur</a:t>
            </a:r>
            <a:endParaRPr lang="en-US" sz="2400" dirty="0"/>
          </a:p>
        </p:txBody>
      </p:sp>
      <p:sp>
        <p:nvSpPr>
          <p:cNvPr id="4" name="Carte enregistrement"/>
          <p:cNvSpPr/>
          <p:nvPr/>
        </p:nvSpPr>
        <p:spPr>
          <a:xfrm>
            <a:off x="609600" y="1524000"/>
            <a:ext cx="6096000" cy="1866900"/>
          </a:xfrm>
          <a:prstGeom prst="roundRect">
            <a:avLst>
              <a:gd name="adj" fmla="val 4082"/>
            </a:avLst>
          </a:prstGeom>
          <a:solidFill>
            <a:srgbClr val="EEF8FF"/>
          </a:solidFill>
          <a:ln w="9525">
            <a:solidFill>
              <a:srgbClr val="0C679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097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54B6D"/>
                </a:solidFill>
              </a:rPr>
              <a:t>ENREGISTREMENT 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14550"/>
            <a:ext cx="561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00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epavillonclimatique.francophonie.org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86050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strike="sngStrike" dirty="0">
                <a:solidFill>
                  <a:srgbClr val="55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68.168.118.201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238500" y="2876550"/>
            <a:ext cx="381000" cy="0"/>
          </a:xfrm>
          <a:prstGeom prst="line">
            <a:avLst/>
          </a:prstGeom>
          <a:noFill/>
          <a:ln w="19050">
            <a:solidFill>
              <a:srgbClr val="0C6792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71900" y="26860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0C67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173.209.36.111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3695700"/>
            <a:ext cx="609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0324A"/>
                </a:solidFill>
              </a:rPr>
              <a:t>CE QUI NE CHANGE PAS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9600" y="398145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B1C"/>
                </a:solidFill>
              </a:rPr>
              <a:t>Le nom de domaine et les adresses des pages, que connaissent déjà les participants et les moteurs de recherche.</a:t>
            </a:r>
            <a:endParaRPr lang="en-US" sz="1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200" dirty="0">
                <a:solidFill>
                  <a:srgbClr val="1D1B1C"/>
                </a:solidFill>
              </a:rPr>
              <a:t>Les courriels de la plateforme, qui continuent de partir du serveur actuel : seule l'adresse du site change.</a:t>
            </a:r>
            <a:endParaRPr lang="en-US" sz="1200" dirty="0"/>
          </a:p>
        </p:txBody>
      </p:sp>
      <p:sp>
        <p:nvSpPr>
          <p:cNvPr id="12" name="Pris en charge"/>
          <p:cNvSpPr txBox="1"/>
          <p:nvPr/>
        </p:nvSpPr>
        <p:spPr>
          <a:xfrm>
            <a:off x="7010400" y="1524000"/>
            <a:ext cx="4572000" cy="1866900"/>
          </a:xfrm>
          <a:prstGeom prst="roundRect">
            <a:avLst>
              <a:gd name="adj" fmla="val 4082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  <p:txBody>
          <a:bodyPr wrap="square" lIns="171450" tIns="171450" rIns="171450" bIns="171450" rtlCol="0" anchor="t"/>
          <a:lstStyle/>
          <a:p>
            <a:pPr algn="l" indent="0" marL="0">
              <a:buNone/>
            </a:pPr>
            <a:r>
              <a:rPr lang="en-US" sz="1050" b="1" spc="80" kern="0" dirty="0">
                <a:solidFill>
                  <a:srgbClr val="00324A"/>
                </a:solidFill>
              </a:rPr>
              <a:t>PRIS EN CHARGE PAR L'IFDD</a:t>
            </a:r>
            <a:endParaRPr lang="en-US" sz="1125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Installation de la plateforme sur le nouveau serveur.</a:t>
            </a:r>
            <a:endParaRPr lang="en-US" sz="1125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Migration des données et des enregistrements depuis 2023.</a:t>
            </a:r>
            <a:endParaRPr lang="en-US" sz="1125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Certificat de sécurité HTTPS du domaine.</a:t>
            </a:r>
            <a:endParaRPr lang="en-US" sz="1125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125" dirty="0">
                <a:solidFill>
                  <a:srgbClr val="1D1B1C"/>
                </a:solidFill>
              </a:rPr>
              <a:t>Redirection des anciennes adresses de pages.</a:t>
            </a:r>
            <a:endParaRPr lang="en-US" sz="1125" dirty="0"/>
          </a:p>
        </p:txBody>
      </p:sp>
      <p:sp>
        <p:nvSpPr>
          <p:cNvPr id="13" name="Text 11"/>
          <p:cNvSpPr txBox="1"/>
          <p:nvPr/>
        </p:nvSpPr>
        <p:spPr>
          <a:xfrm>
            <a:off x="7010400" y="36195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B1C"/>
                </a:solidFill>
              </a:rPr>
              <a:t>Nous serions très heureux que la modification puisse intervenir </a:t>
            </a:r>
            <a:pPr indent="0" marL="0">
              <a:buNone/>
            </a:pPr>
            <a:r>
              <a:rPr lang="en-US" sz="1200" b="1" dirty="0">
                <a:solidFill>
                  <a:srgbClr val="1D1B1C"/>
                </a:solidFill>
              </a:rPr>
              <a:t>cette semaine</a:t>
            </a:r>
            <a:pPr indent="0" marL="0">
              <a:buNone/>
            </a:pPr>
            <a:r>
              <a:rPr lang="en-US" sz="1200" dirty="0">
                <a:solidFill>
                  <a:srgbClr val="1D1B1C"/>
                </a:solidFill>
              </a:rPr>
              <a:t> : elle permettra de mettre leurs pages à la disposition des organisations, pour qu'elles lancent leur communication et invitent leur public à s'inscrire.</a:t>
            </a:r>
            <a:endParaRPr lang="en-US" sz="1200" dirty="0"/>
          </a:p>
        </p:txBody>
      </p:sp>
      <p:sp>
        <p:nvSpPr>
          <p:cNvPr id="14" name="Contact"/>
          <p:cNvSpPr txBox="1"/>
          <p:nvPr/>
        </p:nvSpPr>
        <p:spPr>
          <a:xfrm>
            <a:off x="7010400" y="4686300"/>
            <a:ext cx="4572000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0C6792"/>
            </a:solidFill>
            <a:prstDash val="solid"/>
          </a:ln>
        </p:spPr>
        <p:txBody>
          <a:bodyPr wrap="square" lIns="133350" tIns="152400" rIns="152400" bIns="133350" rtlCol="0" anchor="t"/>
          <a:lstStyle/>
          <a:p>
            <a:pPr algn="l" indent="0" marL="0">
              <a:buNone/>
            </a:pPr>
            <a:r>
              <a:rPr lang="en-US" sz="1125" b="1" u="sng" dirty="0">
                <a:solidFill>
                  <a:srgbClr val="00324A"/>
                </a:solidFill>
              </a:rPr>
              <a:t>Contact technique IFDD</a:t>
            </a:r>
            <a:endParaRPr lang="en-US" sz="1125" dirty="0"/>
          </a:p>
          <a:p>
            <a:pPr algn="l" indent="0" marL="0">
              <a:buNone/>
            </a:pPr>
            <a:r>
              <a:rPr lang="en-US" sz="1125" b="1" dirty="0">
                <a:solidFill>
                  <a:srgbClr val="1D1B1C"/>
                </a:solidFill>
              </a:rPr>
              <a:t>Angenor N'GOUANDI</a:t>
            </a:r>
            <a:pPr algn="l" indent="0" marL="0">
              <a:buNone/>
            </a:pPr>
            <a:r>
              <a:rPr lang="en-US" sz="1125" dirty="0">
                <a:solidFill>
                  <a:srgbClr val="1D1B1C"/>
                </a:solidFill>
              </a:rPr>
              <a:t>, ingénieur logiciel et enseignant en informatique à l'École supérieure africaine des TIC (ESATIC)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1D1B1C"/>
                </a:solidFill>
              </a:rPr>
              <a:t>+225 05 45 29 28 02 (WhatsApp)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1D1B1C"/>
                </a:solidFill>
              </a:rPr>
              <a:t>Angenor99@gmail.com</a:t>
            </a:r>
            <a:endParaRPr lang="en-US" sz="1125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6438900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ePavillon · demande de modification DNS</a:t>
            </a:r>
            <a:endParaRPr lang="en-US" sz="975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38900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55534F"/>
                </a:solidFill>
              </a:rPr>
              <a:t>5 / 5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avillon DAT">
  <a:themeElements>
    <a:clrScheme name="ePavillon DAT">
      <a:dk1>
        <a:srgbClr val="1D1B1C"/>
      </a:dk1>
      <a:lt1>
        <a:srgbClr val="FFFFFF"/>
      </a:lt1>
      <a:dk2>
        <a:srgbClr val="00324A"/>
      </a:dk2>
      <a:lt2>
        <a:srgbClr val="F4F6F8"/>
      </a:lt2>
      <a:accent1>
        <a:srgbClr val="0C6792"/>
      </a:accent1>
      <a:accent2>
        <a:srgbClr val="557607"/>
      </a:accent2>
      <a:accent3>
        <a:srgbClr val="A10C16"/>
      </a:accent3>
      <a:accent4>
        <a:srgbClr val="732F85"/>
      </a:accent4>
      <a:accent5>
        <a:srgbClr val="00A1E4"/>
      </a:accent5>
      <a:accent6>
        <a:srgbClr val="55534F"/>
      </a:accent6>
      <a:hlink>
        <a:srgbClr val="0C6792"/>
      </a:hlink>
      <a:folHlink>
        <a:srgbClr val="054B6D"/>
      </a:folHlink>
    </a:clrScheme>
    <a:fontScheme name="ePavillon D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IFDD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ePavillon : faire pointer son domaine vers le nouveau serveur</dc:title>
  <dc:subject>Dossier d'architecture technique, demande de modification DNS</dc:subject>
  <dc:creator>Angenor N'GOUANDI</dc:creator>
  <cp:lastModifiedBy>Angenor N'GOUANDI</cp:lastModifiedBy>
  <cp:revision>1</cp:revision>
  <dcterms:created xsi:type="dcterms:W3CDTF">2026-10-12T15:02:07Z</dcterms:created>
  <dcterms:modified xsi:type="dcterms:W3CDTF">2026-10-12T15:02:07Z</dcterms:modified>
</cp:coreProperties>
</file>